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B99D07-978D-4AA9-8900-A3CE7459F71C}" v="107" dt="2026-06-08T09:16:16.8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D03675-5F40-4998-B3D0-221022A199E4}" type="datetimeFigureOut">
              <a:t>08/06/2026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DEE71A-C776-43C0-987B-84347DC848D0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1075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685800"/>
            <a:ext cx="8412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Prediction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384048" y="3337560"/>
            <a:ext cx="8366760" cy="4572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3493008"/>
            <a:ext cx="8366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Group Tango  |  AI/ML Capstone Project  |  Tutor: Dami </a:t>
            </a:r>
            <a:endParaRPr lang="en-US" sz="2200">
              <a:latin typeface="Calibri"/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384048" y="4005072"/>
            <a:ext cx="8366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Maven Analytics Telecom Customer Churn  |  7,043 Customers  |  Kaggle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Objective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BF3FB"/>
          </a:solidFill>
          <a:ln w="12700">
            <a:solidFill>
              <a:srgbClr val="EBF3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96112"/>
            <a:ext cx="4114800" cy="3858768"/>
          </a:xfrm>
          <a:prstGeom prst="rect">
            <a:avLst/>
          </a:prstGeom>
          <a:solidFill>
            <a:srgbClr val="EBF3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5634" y="776809"/>
            <a:ext cx="3749040" cy="588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38912" y="1069676"/>
            <a:ext cx="3759823" cy="3622835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t"/>
          <a:lstStyle/>
          <a:p>
            <a:pPr marL="342900" indent="-342900">
              <a:spcBef>
                <a:spcPts val="800"/>
              </a:spcBef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Keeping a customer costs 5 to 7 times less than gaining a new one</a:t>
            </a:r>
            <a:endParaRPr lang="en-US" sz="2400">
              <a:latin typeface="Calibri"/>
              <a:ea typeface="Calibri"/>
              <a:cs typeface="Calibri"/>
            </a:endParaRPr>
          </a:p>
          <a:p>
            <a:pPr marL="342900" indent="-342900">
              <a:spcBef>
                <a:spcPts val="800"/>
              </a:spcBef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Revenue is lost to churn that a prediction model could have caught</a:t>
            </a:r>
            <a:endParaRPr lang="en-US" sz="2400">
              <a:latin typeface="Calibri"/>
              <a:ea typeface="Calibri"/>
              <a:cs typeface="Calibri"/>
            </a:endParaRPr>
          </a:p>
          <a:p>
            <a:pPr marL="342900" indent="-342900">
              <a:spcBef>
                <a:spcPts val="800"/>
              </a:spcBef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Without data, retention goes to the wrong customers</a:t>
            </a:r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663440" y="896112"/>
            <a:ext cx="4206240" cy="38587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906205"/>
            <a:ext cx="3840480" cy="373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Objective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846320" y="1155940"/>
            <a:ext cx="3840480" cy="3536571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t"/>
          <a:lstStyle/>
          <a:p>
            <a:pPr marL="342900" indent="-342900">
              <a:spcBef>
                <a:spcPts val="800"/>
              </a:spcBef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Build a model that predicts who will leave</a:t>
            </a:r>
            <a:endParaRPr lang="en-US" sz="2400">
              <a:latin typeface="Calibri"/>
              <a:ea typeface="Calibri"/>
              <a:cs typeface="Calibri"/>
            </a:endParaRPr>
          </a:p>
          <a:p>
            <a:pPr marL="342900" indent="-342900">
              <a:spcBef>
                <a:spcPts val="800"/>
              </a:spcBef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Compare two models and pick the best one</a:t>
            </a:r>
            <a:endParaRPr lang="en-US" sz="2400">
              <a:latin typeface="Calibri"/>
              <a:ea typeface="Calibri"/>
              <a:cs typeface="Calibri"/>
            </a:endParaRPr>
          </a:p>
          <a:p>
            <a:pPr marL="342900" indent="-342900">
              <a:spcBef>
                <a:spcPts val="800"/>
              </a:spcBef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Identify what drives churn</a:t>
            </a:r>
            <a:endParaRPr lang="en-US" sz="2400">
              <a:latin typeface="Calibri"/>
              <a:ea typeface="Calibri"/>
              <a:cs typeface="Calibri"/>
            </a:endParaRPr>
          </a:p>
          <a:p>
            <a:pPr marL="342900" indent="-342900">
              <a:spcBef>
                <a:spcPts val="800"/>
              </a:spcBef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Apply responsible AI throughout</a:t>
            </a:r>
            <a:endParaRPr lang="en-US" sz="24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Data Cleaning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BF3FB"/>
          </a:solidFill>
          <a:ln w="12700">
            <a:solidFill>
              <a:srgbClr val="EBF3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32688"/>
            <a:ext cx="1828800" cy="12344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87552"/>
            <a:ext cx="182880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7,043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274320" y="1673352"/>
            <a:ext cx="1828800" cy="456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331720" y="932688"/>
            <a:ext cx="1828800" cy="12344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987552"/>
            <a:ext cx="182880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2331720" y="1673352"/>
            <a:ext cx="1828800" cy="456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389120" y="932688"/>
            <a:ext cx="1828800" cy="12344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987552"/>
            <a:ext cx="182880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26.5%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389120" y="1673352"/>
            <a:ext cx="1828800" cy="456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46520" y="932688"/>
            <a:ext cx="1828800" cy="123444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987552"/>
            <a:ext cx="182880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446520" y="1673352"/>
            <a:ext cx="1828800" cy="456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74320" y="228600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Maven Analytics / IBM Cognos  |  Kaggle  |  Public Domain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74320" y="2603021"/>
            <a:ext cx="8595360" cy="315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274320" y="2771409"/>
            <a:ext cx="8595360" cy="2001759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t"/>
          <a:lstStyle/>
          <a:p>
            <a:pPr marL="342900" indent="-342900">
              <a:spcBef>
                <a:spcPts val="800"/>
              </a:spcBef>
              <a:spcAft>
                <a:spcPts val="800"/>
              </a:spcAft>
              <a:buSzPct val="100000"/>
              <a:buChar char="•"/>
            </a:pPr>
            <a:r>
              <a:rPr lang="en-US" sz="24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Missing values filled logically: "No Offer", "No Internet", </a:t>
            </a:r>
            <a:r>
              <a:rPr lang="en-US" sz="24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"No Phone" or zero</a:t>
            </a:r>
            <a:endParaRPr lang="en-US" sz="2400">
              <a:latin typeface="Calibri"/>
              <a:ea typeface="Calibri"/>
              <a:cs typeface="Calibri"/>
            </a:endParaRPr>
          </a:p>
          <a:p>
            <a:pPr marL="342900" indent="-342900">
              <a:spcBef>
                <a:spcPts val="800"/>
              </a:spcBef>
              <a:spcAft>
                <a:spcPts val="800"/>
              </a:spcAft>
              <a:buSzPct val="100000"/>
              <a:buChar char="•"/>
            </a:pPr>
            <a:r>
              <a:rPr lang="en-US" sz="24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Churn Category and Reason columns dropped: They only </a:t>
            </a:r>
            <a:r>
              <a:rPr lang="en-US" sz="24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exist after churn happens (data leakage)</a:t>
            </a:r>
            <a:endParaRPr lang="en-US" sz="2400">
              <a:latin typeface="Calibri"/>
              <a:ea typeface="Calibri"/>
              <a:cs typeface="Calibri"/>
            </a:endParaRPr>
          </a:p>
          <a:p>
            <a:pPr marL="342900" indent="-342900">
              <a:spcBef>
                <a:spcPts val="800"/>
              </a:spcBef>
              <a:spcAft>
                <a:spcPts val="800"/>
              </a:spcAft>
              <a:buSzPct val="100000"/>
              <a:buChar char="•"/>
            </a:pPr>
            <a:r>
              <a:rPr lang="en-US" sz="24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120 rows had negative Monthly Charge: Clipped to zero</a:t>
            </a:r>
            <a:endParaRPr lang="en-US" sz="24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3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68680"/>
            <a:ext cx="4114800" cy="228600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868680"/>
            <a:ext cx="4206240" cy="22860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74320" y="3246120"/>
            <a:ext cx="8595360" cy="1554480"/>
          </a:xfrm>
          <a:prstGeom prst="rect">
            <a:avLst/>
          </a:prstGeom>
          <a:solidFill>
            <a:srgbClr val="EBF3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57200" y="3072902"/>
            <a:ext cx="8229600" cy="624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457200" y="3390613"/>
            <a:ext cx="8229600" cy="1396616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t"/>
          <a:lstStyle/>
          <a:p>
            <a:pPr marL="342900" indent="-342900">
              <a:spcBef>
                <a:spcPts val="800"/>
              </a:spcBef>
              <a:spcAft>
                <a:spcPts val="800"/>
              </a:spcAft>
              <a:buSzPct val="100000"/>
              <a:buChar char="•"/>
            </a:pPr>
            <a:r>
              <a:rPr lang="en-US" sz="24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26.5% of customers churned: Significant enough to </a:t>
            </a:r>
            <a:r>
              <a:rPr lang="en-US" sz="24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build a prediction model for</a:t>
            </a:r>
            <a:endParaRPr lang="en-US" sz="2400">
              <a:latin typeface="Calibri"/>
              <a:ea typeface="Calibri"/>
              <a:cs typeface="Calibri"/>
            </a:endParaRPr>
          </a:p>
          <a:p>
            <a:pPr marL="342900" indent="-342900">
              <a:spcBef>
                <a:spcPts val="800"/>
              </a:spcBef>
              <a:spcAft>
                <a:spcPts val="800"/>
              </a:spcAft>
              <a:buSzPct val="100000"/>
              <a:buChar char="•"/>
            </a:pPr>
            <a:r>
              <a:rPr lang="en-US" sz="24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Month-to-month customers churn far more: Longer </a:t>
            </a:r>
            <a:r>
              <a:rPr lang="en-US" sz="24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contracts mean stronger loyalty</a:t>
            </a:r>
            <a:endParaRPr lang="en-US" sz="24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&amp; Feature Insights</a:t>
            </a:r>
            <a:endParaRPr lang="en-US" sz="3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68680"/>
            <a:ext cx="4572000" cy="324612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868680"/>
            <a:ext cx="3840480" cy="19202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029200" y="2880360"/>
            <a:ext cx="3840480" cy="1920240"/>
          </a:xfrm>
          <a:prstGeom prst="rect">
            <a:avLst/>
          </a:prstGeom>
          <a:solidFill>
            <a:srgbClr val="EBF3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166360" y="2793406"/>
            <a:ext cx="356616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shows us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4724257" y="2965072"/>
            <a:ext cx="4267055" cy="1837857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t"/>
          <a:lstStyle/>
          <a:p>
            <a:pPr marL="342900" indent="-342900">
              <a:spcBef>
                <a:spcPts val="500"/>
              </a:spcBef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Total Charges and Total Revenue nearly identical. Dropped Total Charges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marL="342900" indent="-342900">
              <a:spcBef>
                <a:spcPts val="500"/>
              </a:spcBef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Longer tenure = lower churn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marL="342900" indent="-342900">
              <a:spcBef>
                <a:spcPts val="500"/>
              </a:spcBef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Higher monthly charge = higher churn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marL="342900" indent="-342900">
              <a:spcBef>
                <a:spcPts val="500"/>
              </a:spcBef>
              <a:spcAft>
                <a:spcPts val="500"/>
              </a:spcAft>
              <a:buSzPct val="100000"/>
              <a:buChar char="•"/>
            </a:pPr>
            <a:r>
              <a:rPr lang="en-US" sz="2000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Fibre</a:t>
            </a:r>
            <a:r>
              <a:rPr lang="en-US" sz="20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Optic customers churn most</a:t>
            </a:r>
            <a:endParaRPr lang="en-US" sz="20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Engineering, Encoding &amp; Scaling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BF3FB"/>
          </a:solidFill>
          <a:ln w="12700">
            <a:solidFill>
              <a:srgbClr val="EBF3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96112"/>
            <a:ext cx="2697480" cy="1783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96012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Month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84048" y="1444752"/>
            <a:ext cx="24871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÷ Tenure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spend per month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154680" y="896112"/>
            <a:ext cx="2697480" cy="1783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64408" y="96012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Count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64408" y="1444752"/>
            <a:ext cx="24871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add-ons subscribed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engagement depth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035040" y="896112"/>
            <a:ext cx="2697480" cy="1783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44768" y="96012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Senior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144768" y="1444752"/>
            <a:ext cx="24871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65 and above = 1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age-related churn risk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74320" y="2816352"/>
            <a:ext cx="4160520" cy="1938528"/>
          </a:xfrm>
          <a:prstGeom prst="rect">
            <a:avLst/>
          </a:prstGeom>
          <a:solidFill>
            <a:srgbClr val="EBF3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880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38912" y="3273552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columns converted to 0 or 1 columns so the model can read them. No false ranking is imposed on categories that have no natural order.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663440" y="2816352"/>
            <a:ext cx="4206240" cy="1938528"/>
          </a:xfrm>
          <a:prstGeom prst="rect">
            <a:avLst/>
          </a:prstGeom>
          <a:solidFill>
            <a:srgbClr val="EBF3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2880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Standardisation  ✓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828032" y="3273552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all numbers to the same range. Fitted on training data only to avoid leaking test information into the model.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 &amp; Model Training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74320" y="896112"/>
            <a:ext cx="2697480" cy="221284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32688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274320" y="187452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4,930 records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74320" y="22402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" y="263347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learns here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3154680" y="896112"/>
            <a:ext cx="2697480" cy="221284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932688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5000" dirty="0"/>
          </a:p>
        </p:txBody>
      </p:sp>
      <p:sp>
        <p:nvSpPr>
          <p:cNvPr id="13" name="Text 11"/>
          <p:cNvSpPr/>
          <p:nvPr/>
        </p:nvSpPr>
        <p:spPr>
          <a:xfrm>
            <a:off x="3154680" y="187452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1,056 records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154680" y="22402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246120" y="263347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035040" y="896112"/>
            <a:ext cx="2697480" cy="221284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932688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5000" dirty="0"/>
          </a:p>
        </p:txBody>
      </p:sp>
      <p:sp>
        <p:nvSpPr>
          <p:cNvPr id="18" name="Text 16"/>
          <p:cNvSpPr/>
          <p:nvPr/>
        </p:nvSpPr>
        <p:spPr>
          <a:xfrm>
            <a:off x="6035040" y="187452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1,057 records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035040" y="22402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126480" y="263347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 only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274320" y="321868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274320" y="3611880"/>
            <a:ext cx="4206240" cy="11887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65760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62482" y="3939684"/>
            <a:ext cx="3999206" cy="110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decision trees combined. Handles complex patterns. Gives feature importance scores.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4709160" y="3611880"/>
            <a:ext cx="4206240" cy="1188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8888" y="365760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818888" y="3939684"/>
            <a:ext cx="3912942" cy="852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linear model. Easy to interpret. Used as our comparison baseline.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Results: Performance Metrics &amp; Feature Importance</a:t>
            </a:r>
            <a:endParaRPr lang="en-US" sz="3000">
              <a:latin typeface="Calibri"/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896112"/>
            <a:ext cx="2743200" cy="512064"/>
          </a:xfrm>
          <a:prstGeom prst="rect">
            <a:avLst/>
          </a:prstGeom>
          <a:solidFill>
            <a:srgbClr val="1F4E7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896112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017520" y="896112"/>
            <a:ext cx="2011680" cy="512064"/>
          </a:xfrm>
          <a:prstGeom prst="rect">
            <a:avLst/>
          </a:prstGeom>
          <a:solidFill>
            <a:srgbClr val="1F4E7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90672" y="896112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029200" y="896112"/>
            <a:ext cx="2011680" cy="512064"/>
          </a:xfrm>
          <a:prstGeom prst="rect">
            <a:avLst/>
          </a:prstGeom>
          <a:solidFill>
            <a:srgbClr val="1F4E7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02352" y="896112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74320" y="1408176"/>
            <a:ext cx="27432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408176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017520" y="1408176"/>
            <a:ext cx="20116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90672" y="1408176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81.84%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029200" y="1408176"/>
            <a:ext cx="20116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02352" y="1408176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81.84%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274320" y="1920240"/>
            <a:ext cx="2743200" cy="512064"/>
          </a:xfrm>
          <a:prstGeom prst="rect">
            <a:avLst/>
          </a:prstGeom>
          <a:solidFill>
            <a:srgbClr val="EBF3F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1920240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(ROC)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3017520" y="1920240"/>
            <a:ext cx="2011680" cy="512064"/>
          </a:xfrm>
          <a:prstGeom prst="rect">
            <a:avLst/>
          </a:prstGeom>
          <a:solidFill>
            <a:srgbClr val="EBF3F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90672" y="1920240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0.881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5029200" y="1920240"/>
            <a:ext cx="2011680" cy="512064"/>
          </a:xfrm>
          <a:prstGeom prst="rect">
            <a:avLst/>
          </a:prstGeom>
          <a:solidFill>
            <a:srgbClr val="EBF3F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02352" y="1920240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0.884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274320" y="2432304"/>
            <a:ext cx="27432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2432304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(Churned)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3017520" y="2432304"/>
            <a:ext cx="20116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90672" y="2432304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5029200" y="2432304"/>
            <a:ext cx="20116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02352" y="2432304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274320" y="2944368"/>
            <a:ext cx="2743200" cy="512064"/>
          </a:xfrm>
          <a:prstGeom prst="rect">
            <a:avLst/>
          </a:prstGeom>
          <a:solidFill>
            <a:srgbClr val="EBF3F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2944368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(Churned)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3017520" y="2944368"/>
            <a:ext cx="2011680" cy="512064"/>
          </a:xfrm>
          <a:prstGeom prst="rect">
            <a:avLst/>
          </a:prstGeom>
          <a:solidFill>
            <a:srgbClr val="EBF3F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90672" y="2944368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5029200" y="2944368"/>
            <a:ext cx="2011680" cy="512064"/>
          </a:xfrm>
          <a:prstGeom prst="rect">
            <a:avLst/>
          </a:prstGeom>
          <a:solidFill>
            <a:srgbClr val="EBF3F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02352" y="2944368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  ✓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274320" y="3456432"/>
            <a:ext cx="27432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3456432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(Churned)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3017520" y="3456432"/>
            <a:ext cx="20116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90672" y="3456432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</a:t>
            </a:r>
            <a:endParaRPr lang="en-US" sz="2200" dirty="0"/>
          </a:p>
        </p:txBody>
      </p:sp>
      <p:sp>
        <p:nvSpPr>
          <p:cNvPr id="40" name="Shape 38"/>
          <p:cNvSpPr/>
          <p:nvPr/>
        </p:nvSpPr>
        <p:spPr>
          <a:xfrm>
            <a:off x="5029200" y="3456432"/>
            <a:ext cx="20116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02352" y="3456432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  ✓</a:t>
            </a:r>
            <a:endParaRPr lang="en-US" sz="2200" dirty="0"/>
          </a:p>
        </p:txBody>
      </p:sp>
      <p:pic>
        <p:nvPicPr>
          <p:cNvPr id="4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896112"/>
            <a:ext cx="1691640" cy="3072384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7059168" y="8961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drivers:</a:t>
            </a:r>
            <a:endParaRPr lang="en-US" sz="1800" dirty="0"/>
          </a:p>
        </p:txBody>
      </p:sp>
      <p:sp>
        <p:nvSpPr>
          <p:cNvPr id="44" name="Shape 41"/>
          <p:cNvSpPr/>
          <p:nvPr/>
        </p:nvSpPr>
        <p:spPr>
          <a:xfrm>
            <a:off x="274320" y="3977640"/>
            <a:ext cx="859536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11480" y="397764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Logistic Regression recommended. It catches more actual churners </a:t>
            </a:r>
            <a:r>
              <a:rPr lang="en-US" sz="2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(Recall 0.68 vs 0.60)</a:t>
            </a:r>
            <a:endParaRPr lang="en-US" sz="22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&amp; Key Business Insights</a:t>
            </a:r>
            <a:endParaRPr lang="en-US" sz="3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96112"/>
            <a:ext cx="4023360" cy="283464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896112"/>
            <a:ext cx="4434840" cy="16916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434840" y="2670048"/>
            <a:ext cx="4434840" cy="1060704"/>
          </a:xfrm>
          <a:prstGeom prst="rect">
            <a:avLst/>
          </a:prstGeom>
          <a:solidFill>
            <a:srgbClr val="EBF3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572000" y="2706624"/>
            <a:ext cx="41605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above 0.88 for both models. A missed churner (False Negative) is the most costly error for any business.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274320" y="3503619"/>
            <a:ext cx="8595360" cy="652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Insights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274320" y="4151376"/>
            <a:ext cx="8595360" cy="91440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t"/>
          <a:lstStyle/>
          <a:p>
            <a:pPr marL="342900" indent="-342900">
              <a:spcBef>
                <a:spcPts val="500"/>
              </a:spcBef>
              <a:spcAft>
                <a:spcPts val="500"/>
              </a:spcAft>
              <a:buSzPct val="100000"/>
              <a:buChar char="•"/>
            </a:pPr>
            <a:r>
              <a:rPr lang="en-US" sz="20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Most churn happens in the first 12 months. I</a:t>
            </a:r>
            <a:r>
              <a:rPr lang="en-US" sz="20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nvest early in new customers</a:t>
            </a:r>
            <a:endParaRPr lang="en-US" sz="2000">
              <a:ea typeface="Calibri"/>
              <a:cs typeface="Calibri"/>
            </a:endParaRPr>
          </a:p>
          <a:p>
            <a:pPr marL="342900" indent="-342900">
              <a:spcBef>
                <a:spcPts val="500"/>
              </a:spcBef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Referral customers rarely leave. A referral </a:t>
            </a:r>
            <a:r>
              <a:rPr lang="en-US" sz="2000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programme</a:t>
            </a:r>
            <a:r>
              <a:rPr lang="en-US" sz="20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directly reduces churn</a:t>
            </a:r>
            <a:endParaRPr lang="en-US" sz="20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Ethics, Conclusion &amp; Recommendations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56032" y="896112"/>
            <a:ext cx="2011680" cy="43891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8961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56032" y="1371600"/>
            <a:ext cx="2011680" cy="960120"/>
          </a:xfrm>
          <a:prstGeom prst="rect">
            <a:avLst/>
          </a:prstGeom>
          <a:solidFill>
            <a:srgbClr val="EBF3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408176"/>
            <a:ext cx="18288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personal info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432304" y="896112"/>
            <a:ext cx="2011680" cy="43891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32304" y="8961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432304" y="1371600"/>
            <a:ext cx="2011680" cy="960120"/>
          </a:xfrm>
          <a:prstGeom prst="rect">
            <a:avLst/>
          </a:prstGeom>
          <a:solidFill>
            <a:srgbClr val="EBF3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23744" y="1408176"/>
            <a:ext cx="18288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checked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used as predictor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608576" y="896112"/>
            <a:ext cx="2011680" cy="43891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08576" y="8961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Accountable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608576" y="1371600"/>
            <a:ext cx="2011680" cy="960120"/>
          </a:xfrm>
          <a:prstGeom prst="rect">
            <a:avLst/>
          </a:prstGeom>
          <a:solidFill>
            <a:srgbClr val="EBF3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0016" y="1408176"/>
            <a:ext cx="18288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action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784848" y="896112"/>
            <a:ext cx="2011680" cy="438912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84848" y="8961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784848" y="1371600"/>
            <a:ext cx="2011680" cy="960120"/>
          </a:xfrm>
          <a:prstGeom prst="rect">
            <a:avLst/>
          </a:prstGeom>
          <a:solidFill>
            <a:srgbClr val="EBF3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90024" y="1375827"/>
            <a:ext cx="2227771" cy="962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is US-based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data differs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74320" y="246888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Recommendations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274320" y="2871216"/>
            <a:ext cx="8595360" cy="1938528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t"/>
          <a:lstStyle/>
          <a:p>
            <a:pPr marL="342900" indent="-342900">
              <a:spcBef>
                <a:spcPts val="500"/>
              </a:spcBef>
              <a:spcAft>
                <a:spcPts val="500"/>
              </a:spcAft>
              <a:buSzPct val="100000"/>
              <a:buChar char="•"/>
            </a:pPr>
            <a:r>
              <a:rPr lang="en-US" sz="20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Deploy Logistic Regression: It catches the most churners and is </a:t>
            </a:r>
            <a:r>
              <a:rPr lang="en-US" sz="20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easy to explain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marL="342900" indent="-342900">
              <a:spcBef>
                <a:spcPts val="500"/>
              </a:spcBef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Focus retention efforts on new customers in their first 12 months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marL="342900" indent="-342900">
              <a:spcBef>
                <a:spcPts val="500"/>
              </a:spcBef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Investigate why </a:t>
            </a:r>
            <a:r>
              <a:rPr lang="en-US" sz="2000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Fibre</a:t>
            </a:r>
            <a:r>
              <a:rPr lang="en-US" sz="20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Optic customers leave despite paying the most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marL="342900" indent="-342900">
              <a:spcBef>
                <a:spcPts val="500"/>
              </a:spcBef>
              <a:spcAft>
                <a:spcPts val="500"/>
              </a:spcAft>
              <a:buSzPct val="100000"/>
              <a:buChar char="•"/>
            </a:pPr>
            <a:r>
              <a:rPr lang="en-US" sz="20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Never act on model predictions alone, always involve a human </a:t>
            </a:r>
            <a:r>
              <a:rPr lang="en-US" sz="20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reviewer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marL="342900" indent="-342900">
              <a:spcBef>
                <a:spcPts val="500"/>
              </a:spcBef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Re-train the model every 6 months and run a fairness check each time</a:t>
            </a:r>
            <a:endParaRPr lang="en-US" sz="20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85</cp:revision>
  <dcterms:created xsi:type="dcterms:W3CDTF">2026-06-08T08:37:47Z</dcterms:created>
  <dcterms:modified xsi:type="dcterms:W3CDTF">2026-06-08T09:35:13Z</dcterms:modified>
</cp:coreProperties>
</file>